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3" r:id="rId9"/>
    <p:sldId id="265" r:id="rId10"/>
    <p:sldId id="274" r:id="rId11"/>
    <p:sldId id="264" r:id="rId12"/>
    <p:sldId id="266" r:id="rId13"/>
    <p:sldId id="267" r:id="rId14"/>
    <p:sldId id="268" r:id="rId15"/>
    <p:sldId id="269" r:id="rId16"/>
    <p:sldId id="275" r:id="rId17"/>
    <p:sldId id="270" r:id="rId18"/>
    <p:sldId id="271" r:id="rId19"/>
    <p:sldId id="272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815AFC-B646-47D6-9504-9B65187A636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36AD5A1-D406-4813-A10F-40BA0CCBDF22}">
      <dgm:prSet phldrT="[Text]" phldr="0"/>
      <dgm:spPr/>
      <dgm:t>
        <a:bodyPr/>
        <a:lstStyle/>
        <a:p>
          <a:r>
            <a:rPr lang="en-US" dirty="0"/>
            <a:t>Telecom Customer Dataset</a:t>
          </a:r>
        </a:p>
      </dgm:t>
    </dgm:pt>
    <dgm:pt modelId="{868B41BD-CC69-4ACD-9457-465E03EF31DE}" type="parTrans" cxnId="{EE198448-86CA-4A1A-92B2-B2D1ED5C0BF2}">
      <dgm:prSet/>
      <dgm:spPr/>
      <dgm:t>
        <a:bodyPr/>
        <a:lstStyle/>
        <a:p>
          <a:endParaRPr lang="en-IN"/>
        </a:p>
      </dgm:t>
    </dgm:pt>
    <dgm:pt modelId="{C79F6A73-DDF3-4643-A4F8-5FE3829B9352}" type="sibTrans" cxnId="{EE198448-86CA-4A1A-92B2-B2D1ED5C0BF2}">
      <dgm:prSet/>
      <dgm:spPr/>
      <dgm:t>
        <a:bodyPr/>
        <a:lstStyle/>
        <a:p>
          <a:endParaRPr lang="en-IN"/>
        </a:p>
      </dgm:t>
    </dgm:pt>
    <dgm:pt modelId="{EF5BA286-94A4-435B-A781-A2273B2E67FB}">
      <dgm:prSet phldrT="[Text]" phldr="0"/>
      <dgm:spPr/>
      <dgm:t>
        <a:bodyPr/>
        <a:lstStyle/>
        <a:p>
          <a:r>
            <a:rPr lang="en-US" dirty="0"/>
            <a:t>User Overview Analysis</a:t>
          </a:r>
          <a:endParaRPr lang="en-IN" dirty="0"/>
        </a:p>
      </dgm:t>
    </dgm:pt>
    <dgm:pt modelId="{57D55A8F-CF0A-4B98-8FA4-CABDED575E0B}" type="parTrans" cxnId="{A6ECB77C-E4AD-4E27-880F-2F3536416BEB}">
      <dgm:prSet/>
      <dgm:spPr/>
      <dgm:t>
        <a:bodyPr/>
        <a:lstStyle/>
        <a:p>
          <a:endParaRPr lang="en-IN"/>
        </a:p>
      </dgm:t>
    </dgm:pt>
    <dgm:pt modelId="{B896E540-064A-4E19-B688-13191B277A6E}" type="sibTrans" cxnId="{A6ECB77C-E4AD-4E27-880F-2F3536416BEB}">
      <dgm:prSet/>
      <dgm:spPr/>
      <dgm:t>
        <a:bodyPr/>
        <a:lstStyle/>
        <a:p>
          <a:endParaRPr lang="en-IN"/>
        </a:p>
      </dgm:t>
    </dgm:pt>
    <dgm:pt modelId="{AE195C41-E5BC-472B-9D8B-71A932817EE3}">
      <dgm:prSet phldrT="[Text]" phldr="0"/>
      <dgm:spPr/>
      <dgm:t>
        <a:bodyPr/>
        <a:lstStyle/>
        <a:p>
          <a:r>
            <a:rPr lang="en-US" dirty="0"/>
            <a:t>User Engagement</a:t>
          </a:r>
        </a:p>
        <a:p>
          <a:r>
            <a:rPr lang="en-IN" dirty="0"/>
            <a:t>Analysis</a:t>
          </a:r>
        </a:p>
      </dgm:t>
    </dgm:pt>
    <dgm:pt modelId="{B05685B1-9424-4C96-9A02-B4DB835EEF09}" type="parTrans" cxnId="{82153A74-2FD8-44FC-8D38-467EBDBDFB47}">
      <dgm:prSet/>
      <dgm:spPr/>
      <dgm:t>
        <a:bodyPr/>
        <a:lstStyle/>
        <a:p>
          <a:endParaRPr lang="en-IN"/>
        </a:p>
      </dgm:t>
    </dgm:pt>
    <dgm:pt modelId="{A6751FC1-8B1F-4309-A53C-AFFEF5CFEB9A}" type="sibTrans" cxnId="{82153A74-2FD8-44FC-8D38-467EBDBDFB47}">
      <dgm:prSet/>
      <dgm:spPr/>
      <dgm:t>
        <a:bodyPr/>
        <a:lstStyle/>
        <a:p>
          <a:endParaRPr lang="en-IN"/>
        </a:p>
      </dgm:t>
    </dgm:pt>
    <dgm:pt modelId="{C31BA7F1-FB10-4998-848A-8436D111C914}">
      <dgm:prSet phldrT="[Text]" phldr="0"/>
      <dgm:spPr/>
      <dgm:t>
        <a:bodyPr/>
        <a:lstStyle/>
        <a:p>
          <a:r>
            <a:rPr lang="en-US" dirty="0"/>
            <a:t>User Experience</a:t>
          </a:r>
        </a:p>
        <a:p>
          <a:r>
            <a:rPr lang="en-IN" dirty="0"/>
            <a:t>Analysis</a:t>
          </a:r>
        </a:p>
      </dgm:t>
    </dgm:pt>
    <dgm:pt modelId="{5C85C176-3421-419A-B19B-A36827B79F90}" type="parTrans" cxnId="{A27B4C19-43CD-43E0-9F36-0079B91DAD47}">
      <dgm:prSet/>
      <dgm:spPr/>
      <dgm:t>
        <a:bodyPr/>
        <a:lstStyle/>
        <a:p>
          <a:endParaRPr lang="en-IN"/>
        </a:p>
      </dgm:t>
    </dgm:pt>
    <dgm:pt modelId="{2AF3A696-0800-4B5D-B278-7DF1EA81CDBA}" type="sibTrans" cxnId="{A27B4C19-43CD-43E0-9F36-0079B91DAD47}">
      <dgm:prSet/>
      <dgm:spPr/>
      <dgm:t>
        <a:bodyPr/>
        <a:lstStyle/>
        <a:p>
          <a:endParaRPr lang="en-IN"/>
        </a:p>
      </dgm:t>
    </dgm:pt>
    <dgm:pt modelId="{B5D55BA3-376F-4E15-86BB-4BF905737E65}">
      <dgm:prSet phldrT="[Text]" phldr="0"/>
      <dgm:spPr/>
      <dgm:t>
        <a:bodyPr/>
        <a:lstStyle/>
        <a:p>
          <a:r>
            <a:rPr lang="en-US" dirty="0"/>
            <a:t>Customer Satisfaction Analysis</a:t>
          </a:r>
          <a:endParaRPr lang="en-IN" dirty="0"/>
        </a:p>
      </dgm:t>
    </dgm:pt>
    <dgm:pt modelId="{EC722D37-0B3B-4D9C-B21C-DAAF95897A95}" type="parTrans" cxnId="{52E00FC3-047C-45B3-991E-1FF607F76C0A}">
      <dgm:prSet/>
      <dgm:spPr/>
      <dgm:t>
        <a:bodyPr/>
        <a:lstStyle/>
        <a:p>
          <a:endParaRPr lang="en-IN"/>
        </a:p>
      </dgm:t>
    </dgm:pt>
    <dgm:pt modelId="{5D3BB066-9B43-40D6-A1B7-680AF82AD1DB}" type="sibTrans" cxnId="{52E00FC3-047C-45B3-991E-1FF607F76C0A}">
      <dgm:prSet/>
      <dgm:spPr/>
      <dgm:t>
        <a:bodyPr/>
        <a:lstStyle/>
        <a:p>
          <a:endParaRPr lang="en-IN"/>
        </a:p>
      </dgm:t>
    </dgm:pt>
    <dgm:pt modelId="{D1508338-4B22-401D-9CBA-24E1775698FE}" type="pres">
      <dgm:prSet presAssocID="{F2815AFC-B646-47D6-9504-9B65187A636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CEC5FE-3F2C-4A45-8501-D9AD4CE58C14}" type="pres">
      <dgm:prSet presAssocID="{B36AD5A1-D406-4813-A10F-40BA0CCBDF22}" presName="hierRoot1" presStyleCnt="0"/>
      <dgm:spPr/>
    </dgm:pt>
    <dgm:pt modelId="{5B69A105-BB67-4CC1-86CF-095FC6558C32}" type="pres">
      <dgm:prSet presAssocID="{B36AD5A1-D406-4813-A10F-40BA0CCBDF22}" presName="composite" presStyleCnt="0"/>
      <dgm:spPr/>
    </dgm:pt>
    <dgm:pt modelId="{03B2CACA-E8D5-4DB8-8664-F8097B26CD5D}" type="pres">
      <dgm:prSet presAssocID="{B36AD5A1-D406-4813-A10F-40BA0CCBDF22}" presName="background" presStyleLbl="node0" presStyleIdx="0" presStyleCnt="1"/>
      <dgm:spPr/>
    </dgm:pt>
    <dgm:pt modelId="{1D7151F7-14DA-4827-A87F-3BF8634686BB}" type="pres">
      <dgm:prSet presAssocID="{B36AD5A1-D406-4813-A10F-40BA0CCBDF22}" presName="text" presStyleLbl="fgAcc0" presStyleIdx="0" presStyleCnt="1" custScaleX="194877">
        <dgm:presLayoutVars>
          <dgm:chPref val="3"/>
        </dgm:presLayoutVars>
      </dgm:prSet>
      <dgm:spPr/>
    </dgm:pt>
    <dgm:pt modelId="{4DA64A3F-AC9D-41CA-A530-821FFD4A3D73}" type="pres">
      <dgm:prSet presAssocID="{B36AD5A1-D406-4813-A10F-40BA0CCBDF22}" presName="hierChild2" presStyleCnt="0"/>
      <dgm:spPr/>
    </dgm:pt>
    <dgm:pt modelId="{ECEAB2E9-765F-4A91-9D15-9EB665A2FBCF}" type="pres">
      <dgm:prSet presAssocID="{57D55A8F-CF0A-4B98-8FA4-CABDED575E0B}" presName="Name10" presStyleLbl="parChTrans1D2" presStyleIdx="0" presStyleCnt="1"/>
      <dgm:spPr/>
    </dgm:pt>
    <dgm:pt modelId="{8EF5E28F-0770-4589-9543-8313F4CAB218}" type="pres">
      <dgm:prSet presAssocID="{EF5BA286-94A4-435B-A781-A2273B2E67FB}" presName="hierRoot2" presStyleCnt="0"/>
      <dgm:spPr/>
    </dgm:pt>
    <dgm:pt modelId="{11224A34-96B4-4BA8-A9B0-2425609C4B8D}" type="pres">
      <dgm:prSet presAssocID="{EF5BA286-94A4-435B-A781-A2273B2E67FB}" presName="composite2" presStyleCnt="0"/>
      <dgm:spPr/>
    </dgm:pt>
    <dgm:pt modelId="{8F5A123E-E96C-4641-ACDA-228DC5A07D21}" type="pres">
      <dgm:prSet presAssocID="{EF5BA286-94A4-435B-A781-A2273B2E67FB}" presName="background2" presStyleLbl="node2" presStyleIdx="0" presStyleCnt="1"/>
      <dgm:spPr/>
    </dgm:pt>
    <dgm:pt modelId="{7776196A-F130-4FAB-8F0A-E2F6542B66DF}" type="pres">
      <dgm:prSet presAssocID="{EF5BA286-94A4-435B-A781-A2273B2E67FB}" presName="text2" presStyleLbl="fgAcc2" presStyleIdx="0" presStyleCnt="1" custScaleX="194877">
        <dgm:presLayoutVars>
          <dgm:chPref val="3"/>
        </dgm:presLayoutVars>
      </dgm:prSet>
      <dgm:spPr/>
    </dgm:pt>
    <dgm:pt modelId="{7B4FF237-779D-4AB1-BC35-09FDEDDEC802}" type="pres">
      <dgm:prSet presAssocID="{EF5BA286-94A4-435B-A781-A2273B2E67FB}" presName="hierChild3" presStyleCnt="0"/>
      <dgm:spPr/>
    </dgm:pt>
    <dgm:pt modelId="{1D251738-8C1B-466A-B475-6E3D039B8E26}" type="pres">
      <dgm:prSet presAssocID="{B05685B1-9424-4C96-9A02-B4DB835EEF09}" presName="Name17" presStyleLbl="parChTrans1D3" presStyleIdx="0" presStyleCnt="1"/>
      <dgm:spPr/>
    </dgm:pt>
    <dgm:pt modelId="{D87660CF-0BF2-4C09-9B03-C5C11DAA5F39}" type="pres">
      <dgm:prSet presAssocID="{AE195C41-E5BC-472B-9D8B-71A932817EE3}" presName="hierRoot3" presStyleCnt="0"/>
      <dgm:spPr/>
    </dgm:pt>
    <dgm:pt modelId="{6C243E83-4B52-4C12-BDAA-E5320F608E67}" type="pres">
      <dgm:prSet presAssocID="{AE195C41-E5BC-472B-9D8B-71A932817EE3}" presName="composite3" presStyleCnt="0"/>
      <dgm:spPr/>
    </dgm:pt>
    <dgm:pt modelId="{DA265E28-ADD1-42D6-93E9-E8F8C282A5ED}" type="pres">
      <dgm:prSet presAssocID="{AE195C41-E5BC-472B-9D8B-71A932817EE3}" presName="background3" presStyleLbl="node3" presStyleIdx="0" presStyleCnt="1"/>
      <dgm:spPr/>
    </dgm:pt>
    <dgm:pt modelId="{0BF9B544-1ECA-479F-836F-9681F3F95D83}" type="pres">
      <dgm:prSet presAssocID="{AE195C41-E5BC-472B-9D8B-71A932817EE3}" presName="text3" presStyleLbl="fgAcc3" presStyleIdx="0" presStyleCnt="1" custScaleX="194877">
        <dgm:presLayoutVars>
          <dgm:chPref val="3"/>
        </dgm:presLayoutVars>
      </dgm:prSet>
      <dgm:spPr/>
    </dgm:pt>
    <dgm:pt modelId="{A2CF1949-AEBB-496C-9CC6-3BECC3581E85}" type="pres">
      <dgm:prSet presAssocID="{AE195C41-E5BC-472B-9D8B-71A932817EE3}" presName="hierChild4" presStyleCnt="0"/>
      <dgm:spPr/>
    </dgm:pt>
    <dgm:pt modelId="{52CA085B-207A-4D64-BD3A-474B755582A1}" type="pres">
      <dgm:prSet presAssocID="{5C85C176-3421-419A-B19B-A36827B79F90}" presName="Name23" presStyleLbl="parChTrans1D4" presStyleIdx="0" presStyleCnt="2"/>
      <dgm:spPr/>
    </dgm:pt>
    <dgm:pt modelId="{19D15771-8D40-4EEA-B8BA-3F2E6F758D7F}" type="pres">
      <dgm:prSet presAssocID="{C31BA7F1-FB10-4998-848A-8436D111C914}" presName="hierRoot4" presStyleCnt="0"/>
      <dgm:spPr/>
    </dgm:pt>
    <dgm:pt modelId="{C76C3F0A-1369-4931-9B99-B54D4F5215A1}" type="pres">
      <dgm:prSet presAssocID="{C31BA7F1-FB10-4998-848A-8436D111C914}" presName="composite4" presStyleCnt="0"/>
      <dgm:spPr/>
    </dgm:pt>
    <dgm:pt modelId="{453AB48E-B723-4E07-95BD-F7B35706D04B}" type="pres">
      <dgm:prSet presAssocID="{C31BA7F1-FB10-4998-848A-8436D111C914}" presName="background4" presStyleLbl="node4" presStyleIdx="0" presStyleCnt="2"/>
      <dgm:spPr/>
    </dgm:pt>
    <dgm:pt modelId="{19CAB7B7-45CF-4967-A41F-0B1DE5E9029A}" type="pres">
      <dgm:prSet presAssocID="{C31BA7F1-FB10-4998-848A-8436D111C914}" presName="text4" presStyleLbl="fgAcc4" presStyleIdx="0" presStyleCnt="2" custScaleX="194877">
        <dgm:presLayoutVars>
          <dgm:chPref val="3"/>
        </dgm:presLayoutVars>
      </dgm:prSet>
      <dgm:spPr/>
    </dgm:pt>
    <dgm:pt modelId="{A8EDD8E8-AE9F-454C-934F-73D20879B507}" type="pres">
      <dgm:prSet presAssocID="{C31BA7F1-FB10-4998-848A-8436D111C914}" presName="hierChild5" presStyleCnt="0"/>
      <dgm:spPr/>
    </dgm:pt>
    <dgm:pt modelId="{95D1776D-F0F5-402D-A119-BFF6ADE279C9}" type="pres">
      <dgm:prSet presAssocID="{EC722D37-0B3B-4D9C-B21C-DAAF95897A95}" presName="Name23" presStyleLbl="parChTrans1D4" presStyleIdx="1" presStyleCnt="2"/>
      <dgm:spPr/>
    </dgm:pt>
    <dgm:pt modelId="{B79D9571-AE35-4B9E-BF3F-3818D95A6CBD}" type="pres">
      <dgm:prSet presAssocID="{B5D55BA3-376F-4E15-86BB-4BF905737E65}" presName="hierRoot4" presStyleCnt="0"/>
      <dgm:spPr/>
    </dgm:pt>
    <dgm:pt modelId="{E7EB1B5A-EBEC-47DC-AECB-15DD5CB437D3}" type="pres">
      <dgm:prSet presAssocID="{B5D55BA3-376F-4E15-86BB-4BF905737E65}" presName="composite4" presStyleCnt="0"/>
      <dgm:spPr/>
    </dgm:pt>
    <dgm:pt modelId="{98AAC076-71A9-4259-B06B-59373527F23A}" type="pres">
      <dgm:prSet presAssocID="{B5D55BA3-376F-4E15-86BB-4BF905737E65}" presName="background4" presStyleLbl="node4" presStyleIdx="1" presStyleCnt="2"/>
      <dgm:spPr/>
    </dgm:pt>
    <dgm:pt modelId="{D5A93017-85B6-42D2-8659-379815D207AC}" type="pres">
      <dgm:prSet presAssocID="{B5D55BA3-376F-4E15-86BB-4BF905737E65}" presName="text4" presStyleLbl="fgAcc4" presStyleIdx="1" presStyleCnt="2" custScaleX="194877">
        <dgm:presLayoutVars>
          <dgm:chPref val="3"/>
        </dgm:presLayoutVars>
      </dgm:prSet>
      <dgm:spPr/>
    </dgm:pt>
    <dgm:pt modelId="{CFE89E79-686D-439E-9A6F-5E3FBC5CFA31}" type="pres">
      <dgm:prSet presAssocID="{B5D55BA3-376F-4E15-86BB-4BF905737E65}" presName="hierChild5" presStyleCnt="0"/>
      <dgm:spPr/>
    </dgm:pt>
  </dgm:ptLst>
  <dgm:cxnLst>
    <dgm:cxn modelId="{55E7E213-6A36-42EA-849C-5F92409081FF}" type="presOf" srcId="{5C85C176-3421-419A-B19B-A36827B79F90}" destId="{52CA085B-207A-4D64-BD3A-474B755582A1}" srcOrd="0" destOrd="0" presId="urn:microsoft.com/office/officeart/2005/8/layout/hierarchy1"/>
    <dgm:cxn modelId="{A27B4C19-43CD-43E0-9F36-0079B91DAD47}" srcId="{AE195C41-E5BC-472B-9D8B-71A932817EE3}" destId="{C31BA7F1-FB10-4998-848A-8436D111C914}" srcOrd="0" destOrd="0" parTransId="{5C85C176-3421-419A-B19B-A36827B79F90}" sibTransId="{2AF3A696-0800-4B5D-B278-7DF1EA81CDBA}"/>
    <dgm:cxn modelId="{2D6B7A1F-59C1-4E4F-A0D0-B3F901CB4973}" type="presOf" srcId="{AE195C41-E5BC-472B-9D8B-71A932817EE3}" destId="{0BF9B544-1ECA-479F-836F-9681F3F95D83}" srcOrd="0" destOrd="0" presId="urn:microsoft.com/office/officeart/2005/8/layout/hierarchy1"/>
    <dgm:cxn modelId="{54A91E21-5FF4-49A1-B157-E8065AF2C979}" type="presOf" srcId="{57D55A8F-CF0A-4B98-8FA4-CABDED575E0B}" destId="{ECEAB2E9-765F-4A91-9D15-9EB665A2FBCF}" srcOrd="0" destOrd="0" presId="urn:microsoft.com/office/officeart/2005/8/layout/hierarchy1"/>
    <dgm:cxn modelId="{5E2FB33F-E0AB-46F1-AA7C-98EEF62AC3DE}" type="presOf" srcId="{EC722D37-0B3B-4D9C-B21C-DAAF95897A95}" destId="{95D1776D-F0F5-402D-A119-BFF6ADE279C9}" srcOrd="0" destOrd="0" presId="urn:microsoft.com/office/officeart/2005/8/layout/hierarchy1"/>
    <dgm:cxn modelId="{EE198448-86CA-4A1A-92B2-B2D1ED5C0BF2}" srcId="{F2815AFC-B646-47D6-9504-9B65187A6369}" destId="{B36AD5A1-D406-4813-A10F-40BA0CCBDF22}" srcOrd="0" destOrd="0" parTransId="{868B41BD-CC69-4ACD-9457-465E03EF31DE}" sibTransId="{C79F6A73-DDF3-4643-A4F8-5FE3829B9352}"/>
    <dgm:cxn modelId="{34FC044A-1FD6-4813-A4B4-3F1E7AC0E256}" type="presOf" srcId="{B05685B1-9424-4C96-9A02-B4DB835EEF09}" destId="{1D251738-8C1B-466A-B475-6E3D039B8E26}" srcOrd="0" destOrd="0" presId="urn:microsoft.com/office/officeart/2005/8/layout/hierarchy1"/>
    <dgm:cxn modelId="{82153A74-2FD8-44FC-8D38-467EBDBDFB47}" srcId="{EF5BA286-94A4-435B-A781-A2273B2E67FB}" destId="{AE195C41-E5BC-472B-9D8B-71A932817EE3}" srcOrd="0" destOrd="0" parTransId="{B05685B1-9424-4C96-9A02-B4DB835EEF09}" sibTransId="{A6751FC1-8B1F-4309-A53C-AFFEF5CFEB9A}"/>
    <dgm:cxn modelId="{C2119455-3EDE-41F9-B4B4-F4BB9EC80257}" type="presOf" srcId="{B36AD5A1-D406-4813-A10F-40BA0CCBDF22}" destId="{1D7151F7-14DA-4827-A87F-3BF8634686BB}" srcOrd="0" destOrd="0" presId="urn:microsoft.com/office/officeart/2005/8/layout/hierarchy1"/>
    <dgm:cxn modelId="{A6ECB77C-E4AD-4E27-880F-2F3536416BEB}" srcId="{B36AD5A1-D406-4813-A10F-40BA0CCBDF22}" destId="{EF5BA286-94A4-435B-A781-A2273B2E67FB}" srcOrd="0" destOrd="0" parTransId="{57D55A8F-CF0A-4B98-8FA4-CABDED575E0B}" sibTransId="{B896E540-064A-4E19-B688-13191B277A6E}"/>
    <dgm:cxn modelId="{E96117BF-0B86-4EE9-BF38-D53F084BC7FD}" type="presOf" srcId="{B5D55BA3-376F-4E15-86BB-4BF905737E65}" destId="{D5A93017-85B6-42D2-8659-379815D207AC}" srcOrd="0" destOrd="0" presId="urn:microsoft.com/office/officeart/2005/8/layout/hierarchy1"/>
    <dgm:cxn modelId="{52E00FC3-047C-45B3-991E-1FF607F76C0A}" srcId="{C31BA7F1-FB10-4998-848A-8436D111C914}" destId="{B5D55BA3-376F-4E15-86BB-4BF905737E65}" srcOrd="0" destOrd="0" parTransId="{EC722D37-0B3B-4D9C-B21C-DAAF95897A95}" sibTransId="{5D3BB066-9B43-40D6-A1B7-680AF82AD1DB}"/>
    <dgm:cxn modelId="{66F61CC5-F024-4590-A9A4-B9E5886592BA}" type="presOf" srcId="{C31BA7F1-FB10-4998-848A-8436D111C914}" destId="{19CAB7B7-45CF-4967-A41F-0B1DE5E9029A}" srcOrd="0" destOrd="0" presId="urn:microsoft.com/office/officeart/2005/8/layout/hierarchy1"/>
    <dgm:cxn modelId="{D7DEE6D9-1A57-487F-A136-38C17CFF7FCB}" type="presOf" srcId="{EF5BA286-94A4-435B-A781-A2273B2E67FB}" destId="{7776196A-F130-4FAB-8F0A-E2F6542B66DF}" srcOrd="0" destOrd="0" presId="urn:microsoft.com/office/officeart/2005/8/layout/hierarchy1"/>
    <dgm:cxn modelId="{63496EEB-4A42-4E10-9042-7C58132ECCBE}" type="presOf" srcId="{F2815AFC-B646-47D6-9504-9B65187A6369}" destId="{D1508338-4B22-401D-9CBA-24E1775698FE}" srcOrd="0" destOrd="0" presId="urn:microsoft.com/office/officeart/2005/8/layout/hierarchy1"/>
    <dgm:cxn modelId="{7AED33F3-CD2F-4929-B321-4CB955618902}" type="presParOf" srcId="{D1508338-4B22-401D-9CBA-24E1775698FE}" destId="{69CEC5FE-3F2C-4A45-8501-D9AD4CE58C14}" srcOrd="0" destOrd="0" presId="urn:microsoft.com/office/officeart/2005/8/layout/hierarchy1"/>
    <dgm:cxn modelId="{D061D6C7-460D-4DF3-ADF2-D2FC23CC5EB9}" type="presParOf" srcId="{69CEC5FE-3F2C-4A45-8501-D9AD4CE58C14}" destId="{5B69A105-BB67-4CC1-86CF-095FC6558C32}" srcOrd="0" destOrd="0" presId="urn:microsoft.com/office/officeart/2005/8/layout/hierarchy1"/>
    <dgm:cxn modelId="{5C75DD18-73E1-47D5-B289-4D254CAA9689}" type="presParOf" srcId="{5B69A105-BB67-4CC1-86CF-095FC6558C32}" destId="{03B2CACA-E8D5-4DB8-8664-F8097B26CD5D}" srcOrd="0" destOrd="0" presId="urn:microsoft.com/office/officeart/2005/8/layout/hierarchy1"/>
    <dgm:cxn modelId="{88F0D634-9B06-4716-8510-E48756D99E69}" type="presParOf" srcId="{5B69A105-BB67-4CC1-86CF-095FC6558C32}" destId="{1D7151F7-14DA-4827-A87F-3BF8634686BB}" srcOrd="1" destOrd="0" presId="urn:microsoft.com/office/officeart/2005/8/layout/hierarchy1"/>
    <dgm:cxn modelId="{FEC0F83B-6773-4822-AE47-E45E02CC05DC}" type="presParOf" srcId="{69CEC5FE-3F2C-4A45-8501-D9AD4CE58C14}" destId="{4DA64A3F-AC9D-41CA-A530-821FFD4A3D73}" srcOrd="1" destOrd="0" presId="urn:microsoft.com/office/officeart/2005/8/layout/hierarchy1"/>
    <dgm:cxn modelId="{BDB510BE-498F-4FB0-8616-32D3BB505768}" type="presParOf" srcId="{4DA64A3F-AC9D-41CA-A530-821FFD4A3D73}" destId="{ECEAB2E9-765F-4A91-9D15-9EB665A2FBCF}" srcOrd="0" destOrd="0" presId="urn:microsoft.com/office/officeart/2005/8/layout/hierarchy1"/>
    <dgm:cxn modelId="{734C7D0B-E713-4596-9026-BE0740BE7449}" type="presParOf" srcId="{4DA64A3F-AC9D-41CA-A530-821FFD4A3D73}" destId="{8EF5E28F-0770-4589-9543-8313F4CAB218}" srcOrd="1" destOrd="0" presId="urn:microsoft.com/office/officeart/2005/8/layout/hierarchy1"/>
    <dgm:cxn modelId="{47BA4868-657E-480D-9F80-68DFE697139A}" type="presParOf" srcId="{8EF5E28F-0770-4589-9543-8313F4CAB218}" destId="{11224A34-96B4-4BA8-A9B0-2425609C4B8D}" srcOrd="0" destOrd="0" presId="urn:microsoft.com/office/officeart/2005/8/layout/hierarchy1"/>
    <dgm:cxn modelId="{D3806917-8E51-4DBC-9C95-B4628401FA4D}" type="presParOf" srcId="{11224A34-96B4-4BA8-A9B0-2425609C4B8D}" destId="{8F5A123E-E96C-4641-ACDA-228DC5A07D21}" srcOrd="0" destOrd="0" presId="urn:microsoft.com/office/officeart/2005/8/layout/hierarchy1"/>
    <dgm:cxn modelId="{ED74D226-2BD7-43FA-9DA5-B30338FF8B01}" type="presParOf" srcId="{11224A34-96B4-4BA8-A9B0-2425609C4B8D}" destId="{7776196A-F130-4FAB-8F0A-E2F6542B66DF}" srcOrd="1" destOrd="0" presId="urn:microsoft.com/office/officeart/2005/8/layout/hierarchy1"/>
    <dgm:cxn modelId="{483C0AE4-5B0E-46FD-B97C-D424F7E188A7}" type="presParOf" srcId="{8EF5E28F-0770-4589-9543-8313F4CAB218}" destId="{7B4FF237-779D-4AB1-BC35-09FDEDDEC802}" srcOrd="1" destOrd="0" presId="urn:microsoft.com/office/officeart/2005/8/layout/hierarchy1"/>
    <dgm:cxn modelId="{DD074737-826E-4E7C-B9F0-E2C3091E9993}" type="presParOf" srcId="{7B4FF237-779D-4AB1-BC35-09FDEDDEC802}" destId="{1D251738-8C1B-466A-B475-6E3D039B8E26}" srcOrd="0" destOrd="0" presId="urn:microsoft.com/office/officeart/2005/8/layout/hierarchy1"/>
    <dgm:cxn modelId="{FFA5FCB5-8A83-4AB4-A69B-DE07754304EF}" type="presParOf" srcId="{7B4FF237-779D-4AB1-BC35-09FDEDDEC802}" destId="{D87660CF-0BF2-4C09-9B03-C5C11DAA5F39}" srcOrd="1" destOrd="0" presId="urn:microsoft.com/office/officeart/2005/8/layout/hierarchy1"/>
    <dgm:cxn modelId="{4893BBA7-63C9-4C7A-8FA0-E4922AA5572B}" type="presParOf" srcId="{D87660CF-0BF2-4C09-9B03-C5C11DAA5F39}" destId="{6C243E83-4B52-4C12-BDAA-E5320F608E67}" srcOrd="0" destOrd="0" presId="urn:microsoft.com/office/officeart/2005/8/layout/hierarchy1"/>
    <dgm:cxn modelId="{C292AC2C-4BEF-43EE-8D47-DDC5A4E6E169}" type="presParOf" srcId="{6C243E83-4B52-4C12-BDAA-E5320F608E67}" destId="{DA265E28-ADD1-42D6-93E9-E8F8C282A5ED}" srcOrd="0" destOrd="0" presId="urn:microsoft.com/office/officeart/2005/8/layout/hierarchy1"/>
    <dgm:cxn modelId="{6C45A032-3168-415C-8B94-AF6EF7F94901}" type="presParOf" srcId="{6C243E83-4B52-4C12-BDAA-E5320F608E67}" destId="{0BF9B544-1ECA-479F-836F-9681F3F95D83}" srcOrd="1" destOrd="0" presId="urn:microsoft.com/office/officeart/2005/8/layout/hierarchy1"/>
    <dgm:cxn modelId="{7D007B6F-DA1D-46C0-B93E-F7641105B916}" type="presParOf" srcId="{D87660CF-0BF2-4C09-9B03-C5C11DAA5F39}" destId="{A2CF1949-AEBB-496C-9CC6-3BECC3581E85}" srcOrd="1" destOrd="0" presId="urn:microsoft.com/office/officeart/2005/8/layout/hierarchy1"/>
    <dgm:cxn modelId="{CFD442F0-381D-48DE-8512-E5B5FB365628}" type="presParOf" srcId="{A2CF1949-AEBB-496C-9CC6-3BECC3581E85}" destId="{52CA085B-207A-4D64-BD3A-474B755582A1}" srcOrd="0" destOrd="0" presId="urn:microsoft.com/office/officeart/2005/8/layout/hierarchy1"/>
    <dgm:cxn modelId="{795F9ADE-0E58-4404-A134-2833E7E6C400}" type="presParOf" srcId="{A2CF1949-AEBB-496C-9CC6-3BECC3581E85}" destId="{19D15771-8D40-4EEA-B8BA-3F2E6F758D7F}" srcOrd="1" destOrd="0" presId="urn:microsoft.com/office/officeart/2005/8/layout/hierarchy1"/>
    <dgm:cxn modelId="{1B9AF0BE-C440-4688-88A0-75A4405584C2}" type="presParOf" srcId="{19D15771-8D40-4EEA-B8BA-3F2E6F758D7F}" destId="{C76C3F0A-1369-4931-9B99-B54D4F5215A1}" srcOrd="0" destOrd="0" presId="urn:microsoft.com/office/officeart/2005/8/layout/hierarchy1"/>
    <dgm:cxn modelId="{03B023DF-D07B-45B4-AB11-8BD85C6FFA1F}" type="presParOf" srcId="{C76C3F0A-1369-4931-9B99-B54D4F5215A1}" destId="{453AB48E-B723-4E07-95BD-F7B35706D04B}" srcOrd="0" destOrd="0" presId="urn:microsoft.com/office/officeart/2005/8/layout/hierarchy1"/>
    <dgm:cxn modelId="{5C9CAD17-014B-41F6-BC5F-A7BDDCF3B77F}" type="presParOf" srcId="{C76C3F0A-1369-4931-9B99-B54D4F5215A1}" destId="{19CAB7B7-45CF-4967-A41F-0B1DE5E9029A}" srcOrd="1" destOrd="0" presId="urn:microsoft.com/office/officeart/2005/8/layout/hierarchy1"/>
    <dgm:cxn modelId="{98AF5E4E-3123-40EB-9DC0-798059302F5B}" type="presParOf" srcId="{19D15771-8D40-4EEA-B8BA-3F2E6F758D7F}" destId="{A8EDD8E8-AE9F-454C-934F-73D20879B507}" srcOrd="1" destOrd="0" presId="urn:microsoft.com/office/officeart/2005/8/layout/hierarchy1"/>
    <dgm:cxn modelId="{818F1933-709F-4EAF-BF46-C3F3FA94F72F}" type="presParOf" srcId="{A8EDD8E8-AE9F-454C-934F-73D20879B507}" destId="{95D1776D-F0F5-402D-A119-BFF6ADE279C9}" srcOrd="0" destOrd="0" presId="urn:microsoft.com/office/officeart/2005/8/layout/hierarchy1"/>
    <dgm:cxn modelId="{32475672-F171-474E-8CA9-4D5979A77C3D}" type="presParOf" srcId="{A8EDD8E8-AE9F-454C-934F-73D20879B507}" destId="{B79D9571-AE35-4B9E-BF3F-3818D95A6CBD}" srcOrd="1" destOrd="0" presId="urn:microsoft.com/office/officeart/2005/8/layout/hierarchy1"/>
    <dgm:cxn modelId="{43DA91F6-F90B-435D-B99D-825BABCC5AB2}" type="presParOf" srcId="{B79D9571-AE35-4B9E-BF3F-3818D95A6CBD}" destId="{E7EB1B5A-EBEC-47DC-AECB-15DD5CB437D3}" srcOrd="0" destOrd="0" presId="urn:microsoft.com/office/officeart/2005/8/layout/hierarchy1"/>
    <dgm:cxn modelId="{FF412BEF-DB3C-411B-A8ED-AC1166E6D655}" type="presParOf" srcId="{E7EB1B5A-EBEC-47DC-AECB-15DD5CB437D3}" destId="{98AAC076-71A9-4259-B06B-59373527F23A}" srcOrd="0" destOrd="0" presId="urn:microsoft.com/office/officeart/2005/8/layout/hierarchy1"/>
    <dgm:cxn modelId="{3C4CFA68-7033-4C64-BE6E-DE8E23C4AEE4}" type="presParOf" srcId="{E7EB1B5A-EBEC-47DC-AECB-15DD5CB437D3}" destId="{D5A93017-85B6-42D2-8659-379815D207AC}" srcOrd="1" destOrd="0" presId="urn:microsoft.com/office/officeart/2005/8/layout/hierarchy1"/>
    <dgm:cxn modelId="{E0DBDAD0-5D28-4070-8CF8-136DE43F2FEB}" type="presParOf" srcId="{B79D9571-AE35-4B9E-BF3F-3818D95A6CBD}" destId="{CFE89E79-686D-439E-9A6F-5E3FBC5CFA3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1776D-F0F5-402D-A119-BFF6ADE279C9}">
      <dsp:nvSpPr>
        <dsp:cNvPr id="0" name=""/>
        <dsp:cNvSpPr/>
      </dsp:nvSpPr>
      <dsp:spPr>
        <a:xfrm>
          <a:off x="1409313" y="3600571"/>
          <a:ext cx="91440" cy="3068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8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CA085B-207A-4D64-BD3A-474B755582A1}">
      <dsp:nvSpPr>
        <dsp:cNvPr id="0" name=""/>
        <dsp:cNvSpPr/>
      </dsp:nvSpPr>
      <dsp:spPr>
        <a:xfrm>
          <a:off x="1409313" y="2623847"/>
          <a:ext cx="91440" cy="3068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8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251738-8C1B-466A-B475-6E3D039B8E26}">
      <dsp:nvSpPr>
        <dsp:cNvPr id="0" name=""/>
        <dsp:cNvSpPr/>
      </dsp:nvSpPr>
      <dsp:spPr>
        <a:xfrm>
          <a:off x="1409313" y="1647123"/>
          <a:ext cx="91440" cy="3068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8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EAB2E9-765F-4A91-9D15-9EB665A2FBCF}">
      <dsp:nvSpPr>
        <dsp:cNvPr id="0" name=""/>
        <dsp:cNvSpPr/>
      </dsp:nvSpPr>
      <dsp:spPr>
        <a:xfrm>
          <a:off x="1409313" y="670399"/>
          <a:ext cx="91440" cy="3068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68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B2CACA-E8D5-4DB8-8664-F8097B26CD5D}">
      <dsp:nvSpPr>
        <dsp:cNvPr id="0" name=""/>
        <dsp:cNvSpPr/>
      </dsp:nvSpPr>
      <dsp:spPr>
        <a:xfrm>
          <a:off x="427088" y="494"/>
          <a:ext cx="2055888" cy="669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151F7-14DA-4827-A87F-3BF8634686BB}">
      <dsp:nvSpPr>
        <dsp:cNvPr id="0" name=""/>
        <dsp:cNvSpPr/>
      </dsp:nvSpPr>
      <dsp:spPr>
        <a:xfrm>
          <a:off x="544307" y="111852"/>
          <a:ext cx="2055888" cy="669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Telecom Customer Dataset</a:t>
          </a:r>
        </a:p>
      </dsp:txBody>
      <dsp:txXfrm>
        <a:off x="563928" y="131473"/>
        <a:ext cx="2016646" cy="630662"/>
      </dsp:txXfrm>
    </dsp:sp>
    <dsp:sp modelId="{8F5A123E-E96C-4641-ACDA-228DC5A07D21}">
      <dsp:nvSpPr>
        <dsp:cNvPr id="0" name=""/>
        <dsp:cNvSpPr/>
      </dsp:nvSpPr>
      <dsp:spPr>
        <a:xfrm>
          <a:off x="427088" y="977218"/>
          <a:ext cx="2055888" cy="669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6196A-F130-4FAB-8F0A-E2F6542B66DF}">
      <dsp:nvSpPr>
        <dsp:cNvPr id="0" name=""/>
        <dsp:cNvSpPr/>
      </dsp:nvSpPr>
      <dsp:spPr>
        <a:xfrm>
          <a:off x="544307" y="1088576"/>
          <a:ext cx="2055888" cy="669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User Overview Analysis</a:t>
          </a:r>
          <a:endParaRPr lang="en-IN" sz="1500" kern="1200" dirty="0"/>
        </a:p>
      </dsp:txBody>
      <dsp:txXfrm>
        <a:off x="563928" y="1108197"/>
        <a:ext cx="2016646" cy="630662"/>
      </dsp:txXfrm>
    </dsp:sp>
    <dsp:sp modelId="{DA265E28-ADD1-42D6-93E9-E8F8C282A5ED}">
      <dsp:nvSpPr>
        <dsp:cNvPr id="0" name=""/>
        <dsp:cNvSpPr/>
      </dsp:nvSpPr>
      <dsp:spPr>
        <a:xfrm>
          <a:off x="427088" y="1953943"/>
          <a:ext cx="2055888" cy="669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9B544-1ECA-479F-836F-9681F3F95D83}">
      <dsp:nvSpPr>
        <dsp:cNvPr id="0" name=""/>
        <dsp:cNvSpPr/>
      </dsp:nvSpPr>
      <dsp:spPr>
        <a:xfrm>
          <a:off x="544307" y="2065300"/>
          <a:ext cx="2055888" cy="669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User Engagement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Analysis</a:t>
          </a:r>
        </a:p>
      </dsp:txBody>
      <dsp:txXfrm>
        <a:off x="563928" y="2084921"/>
        <a:ext cx="2016646" cy="630662"/>
      </dsp:txXfrm>
    </dsp:sp>
    <dsp:sp modelId="{453AB48E-B723-4E07-95BD-F7B35706D04B}">
      <dsp:nvSpPr>
        <dsp:cNvPr id="0" name=""/>
        <dsp:cNvSpPr/>
      </dsp:nvSpPr>
      <dsp:spPr>
        <a:xfrm>
          <a:off x="427088" y="2930667"/>
          <a:ext cx="2055888" cy="669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AB7B7-45CF-4967-A41F-0B1DE5E9029A}">
      <dsp:nvSpPr>
        <dsp:cNvPr id="0" name=""/>
        <dsp:cNvSpPr/>
      </dsp:nvSpPr>
      <dsp:spPr>
        <a:xfrm>
          <a:off x="544307" y="3042024"/>
          <a:ext cx="2055888" cy="669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User Experience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Analysis</a:t>
          </a:r>
        </a:p>
      </dsp:txBody>
      <dsp:txXfrm>
        <a:off x="563928" y="3061645"/>
        <a:ext cx="2016646" cy="630662"/>
      </dsp:txXfrm>
    </dsp:sp>
    <dsp:sp modelId="{98AAC076-71A9-4259-B06B-59373527F23A}">
      <dsp:nvSpPr>
        <dsp:cNvPr id="0" name=""/>
        <dsp:cNvSpPr/>
      </dsp:nvSpPr>
      <dsp:spPr>
        <a:xfrm>
          <a:off x="427088" y="3907391"/>
          <a:ext cx="2055888" cy="669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93017-85B6-42D2-8659-379815D207AC}">
      <dsp:nvSpPr>
        <dsp:cNvPr id="0" name=""/>
        <dsp:cNvSpPr/>
      </dsp:nvSpPr>
      <dsp:spPr>
        <a:xfrm>
          <a:off x="544307" y="4018748"/>
          <a:ext cx="2055888" cy="669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Customer Satisfaction Analysis</a:t>
          </a:r>
          <a:endParaRPr lang="en-IN" sz="1500" kern="1200" dirty="0"/>
        </a:p>
      </dsp:txBody>
      <dsp:txXfrm>
        <a:off x="563928" y="4038369"/>
        <a:ext cx="2016646" cy="6306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D1DC5-C7CE-42F7-5901-A29B0839E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4A164-6537-AD70-1B7D-65F7C3BE5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D4E10-C158-212A-B03A-82CF3462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62A14-A00E-CF99-82FB-6002DBB8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5D28-FAB7-6D76-7826-92AF2EAD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02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8670-0A1E-77B7-5691-BE58A8F7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A0EB-4881-AC18-9726-DA6633B18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B4B2B-BFAB-3AB2-C12E-65F96CF6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0E125-EA68-F821-BAEE-FAF1E7219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D07D3-73E5-C7BC-6277-17B7C46A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72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978A-CBBE-4CFA-CE4A-A11DD4A4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817EE-7953-2235-0AED-83EEC7DD5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274AF-D363-224D-A10C-4A61AC31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43DAC-4B66-E2D8-3BFD-CC6021F3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E585-C83E-4518-D766-86BA5A0F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00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F5C0-6C2F-3C7A-FB16-9455811A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CB0A-EF4A-2DAC-FEBE-3FCB80068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E96C8-9B4A-1F04-0C87-136C7F71D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116AA-BBE6-B3B2-D3EE-A1581877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A0DFB-17CB-6136-D175-68D448BF1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7B53E-ED4E-387A-A5D8-9153738B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5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51053-F2C6-9EF1-8426-FA514B31E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8DEB6-CB99-A02A-00DE-7DBFDFEEB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08D06-A6D2-DB96-E1FF-DB6D548DB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76D10-9040-2C4E-E54A-09658A05B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A4E36-5559-DACA-06D2-A21915268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150F4-D3EC-C0FD-9192-3DE3F77A1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CAF43-140F-2355-7F52-ABCD0D72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98C05-655D-B62E-5D61-03E3E11E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4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E1CA-9646-9FE3-D150-F6250E783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1AD6AE-C499-0746-5302-82EAE4F3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60A5A-6F8C-39EF-3ABE-7101431A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0ED8E-A19A-20E8-4525-EB27A33E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28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3799F-EE65-961B-31AC-F3B9D737E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C5AB80-1B12-CA91-6351-2CC666AD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AD090-95D6-D164-C8D7-E09AB3E8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23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B3931-D233-B07F-4DCF-46DA2D50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B8E5F-66BB-934F-F0FA-4220A4AB2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6419C-03C1-C0AE-4F82-1751E5D51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5AAD4-5E92-DF68-E7F7-4D30DCBA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2BE17-F70C-740A-A3A9-D02E4E5B3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7752E-61E1-1792-B80C-A7E65451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068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53E32-E750-59A4-0EF4-5A30820B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E2D81-8A89-7367-8C19-DB71F024C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C2E59-E83D-C441-7327-DC2CF5B05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6E215-C83A-EE44-C2B4-38E67258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A5BF6-5F44-CD55-4C5D-53CB0B7C5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61C1B-40CF-0045-CC2A-9B5911200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98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3C9A-797F-2681-A4D8-93422BFE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8257D-AFB6-B24C-561E-63CB53577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6689-E499-44F8-DFA5-879A2830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85264-AEB6-616A-89EE-211B464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588DC-8B46-3D48-42D7-608D438B8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78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F4B424-BBD1-D74B-75E6-0B9F3FCC0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CDA09-3CFA-E397-7E89-241EA84DC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10DE6-32A7-59AE-824D-BB8C824A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4AD5B-B438-B7F4-AC82-DC4829BBF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74F46-D478-C7AF-4322-C8E58B38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18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402E8-B2C1-E1A2-5D29-F1694C92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7BE1B-4FF3-AA13-8370-0EFD45BD5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1F53D-D890-6F90-89B1-45BEC8E5E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9AAAE-691C-44EA-B2EA-184AED09952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5DF10-E56E-BB98-6752-4F8550847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3DA8F-A3AD-AD00-28D9-37BFC956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F8625-03A0-4972-A22F-9BCD2F68D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85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4061" y="2030816"/>
            <a:ext cx="7772400" cy="1398184"/>
          </a:xfrm>
        </p:spPr>
        <p:txBody>
          <a:bodyPr>
            <a:noAutofit/>
          </a:bodyPr>
          <a:lstStyle/>
          <a:p>
            <a:r>
              <a:rPr lang="en-IN" sz="38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Telecom Customer Analytics</a:t>
            </a:r>
            <a:br>
              <a:rPr lang="en-IN" sz="38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</a:br>
            <a:endParaRPr lang="en-IN" sz="3800" b="1" dirty="0">
              <a:solidFill>
                <a:schemeClr val="accent4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296143"/>
          </a:xfrm>
        </p:spPr>
        <p:txBody>
          <a:bodyPr>
            <a:normAutofit/>
          </a:bodyPr>
          <a:lstStyle/>
          <a:p>
            <a:r>
              <a:rPr lang="en-IN" i="1" dirty="0">
                <a:solidFill>
                  <a:schemeClr val="bg2">
                    <a:lumMod val="25000"/>
                  </a:schemeClr>
                </a:solidFill>
              </a:rPr>
              <a:t>User Engagement, Experience &amp; Satisfaction Analysis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sz="1600" b="1" dirty="0">
                <a:solidFill>
                  <a:schemeClr val="accent4">
                    <a:lumMod val="50000"/>
                  </a:schemeClr>
                </a:solidFill>
              </a:rPr>
              <a:t>Project 5 – Data Analytics &amp;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23783" y="5181862"/>
            <a:ext cx="1102606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accent4">
                    <a:lumMod val="50000"/>
                  </a:schemeClr>
                </a:solidFill>
              </a:rPr>
              <a:t>Presented By:			               				                   Data Analytics </a:t>
            </a:r>
          </a:p>
          <a:p>
            <a:r>
              <a:rPr lang="en-US" sz="1700" b="1" dirty="0">
                <a:solidFill>
                  <a:schemeClr val="accent4">
                    <a:lumMod val="50000"/>
                  </a:schemeClr>
                </a:solidFill>
              </a:rPr>
              <a:t>Bhawna Chouhan</a:t>
            </a:r>
            <a:r>
              <a:rPr lang="en-US" sz="1700" dirty="0">
                <a:solidFill>
                  <a:schemeClr val="accent4">
                    <a:lumMod val="50000"/>
                  </a:schemeClr>
                </a:solidFill>
              </a:rPr>
              <a:t>			       				                   Internship Project NextHikes</a:t>
            </a:r>
          </a:p>
          <a:p>
            <a:r>
              <a:rPr lang="en-US" sz="1700" dirty="0">
                <a:solidFill>
                  <a:schemeClr val="accent4">
                    <a:lumMod val="50000"/>
                  </a:schemeClr>
                </a:solidFill>
              </a:rPr>
              <a:t>				                 				                   August 2026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755813-6452-4AC0-FD57-46632ED80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918" y="1117975"/>
            <a:ext cx="847949" cy="8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3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0829-7A39-5093-2077-0DB5614A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4">
                    <a:lumMod val="50000"/>
                  </a:schemeClr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54AF5-FB77-FA9C-9313-CA222DDE9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1280160"/>
            <a:ext cx="11710268" cy="54955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chemeClr val="accent1">
                    <a:lumMod val="50000"/>
                  </a:schemeClr>
                </a:solidFill>
              </a:rPr>
              <a:t>Business Problem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Analyze telecom customer behaviour using </a:t>
            </a:r>
            <a:r>
              <a:rPr lang="en-IN" sz="1900" b="1" dirty="0">
                <a:solidFill>
                  <a:schemeClr val="accent1">
                    <a:lumMod val="50000"/>
                  </a:schemeClr>
                </a:solidFill>
              </a:rPr>
              <a:t>network usage and application data</a:t>
            </a: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Understand user engagement, experience, and satisfaction. 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Support data-driven business decisions through analytics. </a:t>
            </a:r>
          </a:p>
          <a:p>
            <a:pPr marL="0" indent="0">
              <a:buNone/>
            </a:pPr>
            <a:r>
              <a:rPr lang="en-IN" sz="2200" b="1" dirty="0">
                <a:solidFill>
                  <a:schemeClr val="accent1">
                    <a:lumMod val="50000"/>
                  </a:schemeClr>
                </a:solidFill>
              </a:rPr>
              <a:t>Project Objectives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 Perform User Overview Analysis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 Analyze User Engagement using session frequency, duration, and traffic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 Segment users using K-Means clustering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 Evaluate User Experience using RTT, TCP Retransmission, and Throughput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 Calculate and analyze Customer Satisfaction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 Perform duration-based user segmentation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 Export final satisfaction results to SQL Server</a:t>
            </a:r>
          </a:p>
          <a:p>
            <a:pPr lvl="0">
              <a:lnSpc>
                <a:spcPct val="120000"/>
              </a:lnSpc>
            </a:pPr>
            <a:r>
              <a:rPr lang="en-IN" sz="1900" dirty="0">
                <a:solidFill>
                  <a:schemeClr val="accent1">
                    <a:lumMod val="50000"/>
                  </a:schemeClr>
                </a:solidFill>
              </a:rPr>
              <a:t>Verify the exported results using SQL queries</a:t>
            </a:r>
            <a:endParaRPr lang="en-IN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0406FA-4D83-A46D-423F-D6CF79721DFA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3AABCF-9CE8-972D-7E66-9A9BF768225D}"/>
              </a:ext>
            </a:extLst>
          </p:cNvPr>
          <p:cNvSpPr txBox="1"/>
          <p:nvPr/>
        </p:nvSpPr>
        <p:spPr>
          <a:xfrm>
            <a:off x="8915400" y="1376039"/>
            <a:ext cx="290663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Tools &amp; Technologies</a:t>
            </a:r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Python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Pandas &amp; NumPy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Matplotlib &amp; Seaborn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Scikit-learn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      (K-Means Clustering)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SQL Server (SSMS)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VS Code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Jupyter Notebook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291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CB8DE-BF6D-6BD3-5858-005C978A9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92FB-A2D5-6832-2F0A-3F66E53B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Business Understanding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466D6-667A-A918-208A-9AD43F557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230" y="1376040"/>
            <a:ext cx="11407806" cy="5221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chemeClr val="accent1">
                    <a:lumMod val="50000"/>
                  </a:schemeClr>
                </a:solidFill>
              </a:rPr>
              <a:t>Business Context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50000"/>
                  </a:schemeClr>
                </a:solidFill>
              </a:rPr>
              <a:t>TellCo is a mobile service provider with a large customer base. 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50000"/>
                  </a:schemeClr>
                </a:solidFill>
              </a:rPr>
              <a:t>The company wants to better understand customer behaviour using telecom usage data. 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50000"/>
                  </a:schemeClr>
                </a:solidFill>
              </a:rPr>
              <a:t>The analysis supports informed business decisions and identifies opportunities for business growth. </a:t>
            </a:r>
          </a:p>
          <a:p>
            <a:pPr marL="0" indent="0">
              <a:buNone/>
            </a:pPr>
            <a:r>
              <a:rPr lang="en-IN" sz="2200" b="1" dirty="0">
                <a:solidFill>
                  <a:schemeClr val="accent1">
                    <a:lumMod val="50000"/>
                  </a:schemeClr>
                </a:solidFill>
              </a:rPr>
              <a:t>Problem Statement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50000"/>
                  </a:schemeClr>
                </a:solidFill>
              </a:rPr>
              <a:t>Customer behaviour patterns are not clearly understood. 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50000"/>
                  </a:schemeClr>
                </a:solidFill>
              </a:rPr>
              <a:t>There is a need to analyze user engagement, experience, and satisfaction. 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solidFill>
                  <a:schemeClr val="accent1">
                    <a:lumMod val="50000"/>
                  </a:schemeClr>
                </a:solidFill>
              </a:rPr>
              <a:t>The results will help identify customer segments and support strategic decision-making.</a:t>
            </a:r>
          </a:p>
          <a:p>
            <a:pPr marL="0" indent="0">
              <a:buNone/>
            </a:pPr>
            <a:r>
              <a:rPr lang="en-IN" sz="2200" b="1" dirty="0">
                <a:solidFill>
                  <a:schemeClr val="accent1">
                    <a:lumMod val="50000"/>
                  </a:schemeClr>
                </a:solidFill>
              </a:rPr>
              <a:t>Project Goal</a:t>
            </a:r>
          </a:p>
          <a:p>
            <a:pPr lvl="0">
              <a:lnSpc>
                <a:spcPct val="160000"/>
              </a:lnSpc>
            </a:pPr>
            <a:r>
              <a:rPr lang="en-IN" sz="1700" dirty="0">
                <a:solidFill>
                  <a:schemeClr val="accent1">
                    <a:lumMod val="50000"/>
                  </a:schemeClr>
                </a:solidFill>
              </a:rPr>
              <a:t>Analyze telecom customer data using Python and Machine Learning. </a:t>
            </a:r>
          </a:p>
          <a:p>
            <a:pPr lvl="0">
              <a:lnSpc>
                <a:spcPct val="160000"/>
              </a:lnSpc>
            </a:pPr>
            <a:r>
              <a:rPr lang="en-IN" sz="1700" dirty="0">
                <a:solidFill>
                  <a:schemeClr val="accent1">
                    <a:lumMod val="50000"/>
                  </a:schemeClr>
                </a:solidFill>
              </a:rPr>
              <a:t>Generate actionable business insights. </a:t>
            </a:r>
          </a:p>
          <a:p>
            <a:pPr lvl="0">
              <a:lnSpc>
                <a:spcPct val="160000"/>
              </a:lnSpc>
            </a:pPr>
            <a:r>
              <a:rPr lang="en-IN" sz="1700" dirty="0">
                <a:solidFill>
                  <a:schemeClr val="accent1">
                    <a:lumMod val="50000"/>
                  </a:schemeClr>
                </a:solidFill>
              </a:rPr>
              <a:t>Store the final results in SQL Server for future reporting and analysis.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17545-FE79-8645-D266-D3EB9DD07A74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132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6C37-0665-9EE3-FB63-6C2CF4108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A2EC-39DB-A818-751C-1C36A935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11D9-81E4-F82F-9C59-0C6B08DDA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230" y="1298448"/>
            <a:ext cx="11407806" cy="5298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Dataset Description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Telecom customer usage dataset containing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150,001 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customer session records collected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     From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 aggregated </a:t>
            </a:r>
            <a:r>
              <a:rPr lang="en-IN" sz="1600" b="1" dirty="0" err="1">
                <a:solidFill>
                  <a:schemeClr val="accent1">
                    <a:lumMod val="50000"/>
                  </a:schemeClr>
                </a:solidFill>
              </a:rPr>
              <a:t>xDR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 (Data Session Detail Records)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Dataset consists of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55 features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describing customer sessions and network usage.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Records include customer activity, application usage, device information, 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    and network performance metrics.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Used to analyze customer behaviour, engagement, experience, and satisfaction.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Key Data Categories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User Information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Device &amp; Manufacturer Information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Network Usage Metrics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Application Traffic (DL &amp; UL)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Session Duration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Network Quality Metrics (RTT, TCP &amp; Throughput)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6115F-9940-2F2D-B3D2-090931475146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2818B-176A-D0D4-109C-C780F8B624B4}"/>
              </a:ext>
            </a:extLst>
          </p:cNvPr>
          <p:cNvSpPr txBox="1"/>
          <p:nvPr/>
        </p:nvSpPr>
        <p:spPr>
          <a:xfrm>
            <a:off x="5440680" y="3826864"/>
            <a:ext cx="33751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Initial Dataset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• 150,001 session records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• 55 original features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lvl="0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After Preprocessing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• 150,001 records retained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• 49 final features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• 0 missing values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• 0 duplicate records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7D7E375-6449-9B09-5579-401437E4BE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0613259"/>
              </p:ext>
            </p:extLst>
          </p:nvPr>
        </p:nvGraphicFramePr>
        <p:xfrm>
          <a:off x="8726750" y="1908203"/>
          <a:ext cx="3027285" cy="4689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FC1A204-63C0-63B5-DF56-9E4CD6DE573D}"/>
              </a:ext>
            </a:extLst>
          </p:cNvPr>
          <p:cNvSpPr txBox="1"/>
          <p:nvPr/>
        </p:nvSpPr>
        <p:spPr>
          <a:xfrm>
            <a:off x="8897112" y="1422704"/>
            <a:ext cx="2856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Project Analysis Flow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47458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464A3-7C71-61D2-151D-C0578EA6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D01B-B557-F154-61AD-DF8FC5354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Data Preprocessing &amp;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43F4-3850-1571-C247-67A8D60CC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646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chemeClr val="accent1">
                    <a:lumMod val="50000"/>
                  </a:schemeClr>
                </a:solidFill>
              </a:rPr>
              <a:t>Data Preprocessing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Checked missing values and duplicate records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Six features had more than 60% missing values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Very-high-missing features (&gt;60%) were removed after evaluation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Remaining numerical missing values were imputed using the median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Categorical values were handled using the mode where applicable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Outliers were identified using boxplots and retained when they represented</a:t>
            </a:r>
          </a:p>
          <a:p>
            <a:pPr marL="0" lv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valid telecom behavior.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Final validation confirmed 0 missing values and 0 duplicate records</a:t>
            </a: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Exploratory Data Analysis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Skewed distributions observed in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   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RTT, Throughput, and Activity Duration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Correlation analysis identified 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     relationships among key network metrics. 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EDA revealed significant outliers and user variability.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4579C8-CF29-EE00-D1AA-144E2A599487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F0E980-559D-63AC-E0B4-E29A24261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75" t="7032" r="56494" b="2225"/>
          <a:stretch>
            <a:fillRect/>
          </a:stretch>
        </p:blipFill>
        <p:spPr>
          <a:xfrm>
            <a:off x="7251193" y="1376039"/>
            <a:ext cx="4636008" cy="2885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CAA8A1-8E25-8DCC-838D-9A1ABF6003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59" r="33082" b="48200"/>
          <a:stretch>
            <a:fillRect/>
          </a:stretch>
        </p:blipFill>
        <p:spPr>
          <a:xfrm>
            <a:off x="8390115" y="4265721"/>
            <a:ext cx="3775968" cy="25922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382719-1657-8332-2044-BA60FB8FFE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118" t="142" r="48893" b="58231"/>
          <a:stretch>
            <a:fillRect/>
          </a:stretch>
        </p:blipFill>
        <p:spPr>
          <a:xfrm>
            <a:off x="5345066" y="4350057"/>
            <a:ext cx="2857102" cy="235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12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7BA68-2C26-A739-7384-E8AB07AC0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5B6E-0400-F004-C336-9C057C2F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User Overview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52ACD-EBFF-8A10-5238-70DECB72A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646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Key Findings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User traffic was aggregated at subscriber (MSISDN) level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Gaming and Other generated the highest total traffic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YouTube was the third-highest application by total traffic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Netflix and Google showed lower traffic than the top three applications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One subscriber recorded exceptionally high total data usage</a:t>
            </a:r>
          </a:p>
          <a:p>
            <a:pPr lvl="0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User-level summaries were prepared for engagement and satisfaction analysis</a:t>
            </a: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Business Insight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High-data users can be targeted with premium plans.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Application usage patterns support network optimization and customer segmentation.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ABDDEE-0310-72C6-4F94-7401EF7D1F72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5E43E-A5CA-2873-ED43-AD9BD5C3D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586" y="3769991"/>
            <a:ext cx="5621429" cy="2063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A5BD4B-D071-082A-ECB1-69C853909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722" y="1411549"/>
            <a:ext cx="3773009" cy="351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7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38B6-CDAA-1D3E-D5C4-1582A60D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EC2F-26AE-59D2-EA2C-BFDE8CFA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User Engagement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EF7DB-0A8C-D082-A5BF-A65FB3899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646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Key Findings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Engagement was measured using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session frequency, session duration, and total traffic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Subscriber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33663706799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ranked highest across all three metrics: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1,067 sessions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72.66 million </a:t>
            </a:r>
            <a:r>
              <a:rPr lang="en-IN" sz="1600" b="1" dirty="0" err="1">
                <a:solidFill>
                  <a:schemeClr val="accent1">
                    <a:lumMod val="50000"/>
                  </a:schemeClr>
                </a:solidFill>
              </a:rPr>
              <a:t>ms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duration, and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531.96B bytes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traffic. 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K-Means (k=3)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segmented users into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low, moderate, and high engagement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groups. 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Cluster 0: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97,671 users → lowest engagement. 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Cluster 2: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9,184 users → moderate engagement. 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Cluster 1: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1 user → exceptionally high engagement.</a:t>
            </a:r>
            <a:endParaRPr lang="en-IN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Business Insight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Low-engagement users: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promotional campaigns.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Moderate users: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upgrade/personalized plans.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Highly engaged users: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premium services, retention and network capacity planning.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513F4E-F012-3F92-74A2-4E282F135D3F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91434F-16E9-5F97-16EB-1A50B9347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218" y="2629224"/>
            <a:ext cx="3311647" cy="35675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4E9E83-D24A-0E4E-BCB7-FE890A03F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170" y="2691384"/>
            <a:ext cx="3509914" cy="334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33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442E0-C0BE-C847-6A34-7DDCF33E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79D7-554B-026E-70BE-00C59583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Duration Decile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093D2-A09A-89C4-B9EC-9E90C8107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646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Objective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Segment users into 10 duration-based deciles and analyze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>total data consumption across the highest-duration groups.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Key Findings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Users were divided into 10 duration deciles based on session duration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Top five duration groups: Deciles 6–10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Each group contains approximately 10,685–10,686 users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Total data consumption generally increases with session duration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Decile 10 recorded the highest total duration: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5.18 billion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ms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Decile 10 also recorded the highest total data usage: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15.40 trillion bytes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BA9430-BEE8-4AC9-6A94-65F174308B8E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83F11-1A62-7416-3B8D-E65ED6DC373E}"/>
              </a:ext>
            </a:extLst>
          </p:cNvPr>
          <p:cNvSpPr txBox="1"/>
          <p:nvPr/>
        </p:nvSpPr>
        <p:spPr>
          <a:xfrm>
            <a:off x="7077457" y="1376039"/>
            <a:ext cx="480974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Business Insight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High-duration users represent an important high-usage segment.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These users can support: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Network capacity planning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Customer segmentation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Targeted service strategies</a:t>
            </a: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D16B2-990E-6A6C-CAE2-A22C859C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619252"/>
            <a:ext cx="5742432" cy="305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81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7F410-D7DE-5858-B0F6-9F756151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E4DA-4513-CAE7-7291-CA7CB35B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User Experience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212EF-AE94-114A-74D6-8831D27A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646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Key Insights</a:t>
            </a:r>
          </a:p>
          <a:p>
            <a:pPr lvl="0"/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Evaluated user experience using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RTT, TCP Retransmission, and Throughput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lvl="0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Performance differs across handset types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, indicating device-specific network quality. </a:t>
            </a:r>
          </a:p>
          <a:p>
            <a:pPr lvl="0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Cluster 2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delivers the most balanced user experience.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Business Impact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Improve throughput for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Cluster 0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(low throughput).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Reduce high latency &amp; retransmission in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Cluster 1.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Use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Cluster 2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as the performance benchmark.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C7A4B4-BF00-429D-869B-C07026CD55E2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6E7B95-500F-4737-4248-BEE2FD2C1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30" y="4235913"/>
            <a:ext cx="5808869" cy="2498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209EA7-A577-8E10-C2E3-2A62CA314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391750"/>
            <a:ext cx="5321809" cy="434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65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B31B-5B6D-1519-21AD-613B64E8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448A-7AC9-7554-504D-5744778A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Customer Satisfaction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969D7-C310-F5D4-6B86-2644CE949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646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How Satisfaction Was Calculated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1. Engagement Score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•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Measures distance from the least-engaged cluster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2. Experience Score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  •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Measures distance from the worst-experience cluster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3. Score Normalization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•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Engagement and experience scores were normalized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• This puts both measures on a comparable scale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4. Satisfaction Score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•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Calculated as the average of normalized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Engagement and Experience Scores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5. Satisfaction Clustering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 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K-Means with k = 2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• Identified two customer satisfaction segments</a:t>
            </a:r>
            <a:endParaRPr lang="en-IN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736C3D-0F98-E739-8F71-7F1CB9E87A95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22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148B-A383-3970-B3A6-8EAA76D5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D5C4-B39D-1614-F5CA-E5479F97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User Satisfaction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CDFBD-363D-4AE9-0457-ACB83EEBB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646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Key Findings</a:t>
            </a:r>
          </a:p>
          <a:p>
            <a:pPr marL="0" indent="0">
              <a:buNone/>
            </a:pPr>
            <a:r>
              <a:rPr lang="en-IN" sz="1600" dirty="0"/>
              <a:t>•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Two satisfaction clusters were identified using K-Means (k = 2)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Cluster 0 has the higher average Satisfaction Score: 0.50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Cluster 1 has the lower average Satisfaction Score: 0.21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Cluster 1 has higher average engagement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• Cluster 0 has substantially higher average experience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• Higher engagement alone does not guarantee higher satisfaction </a:t>
            </a:r>
            <a:endParaRPr lang="en-I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Business Impact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Prioritize lower-satisfaction customers for network improvement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Improve network experience where service quality is weak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• Use satisfaction segments for targeted retention strategies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• Evaluate engagement and network experience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DF5CE-0B5B-9F67-DAB8-1FFE5BE9FCE3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6DFC42-8749-09F5-B996-CDDB9737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2" y="4023360"/>
            <a:ext cx="5288278" cy="2734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1A5E27-B14A-CBCE-7CA7-5D724D716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1" y="1376039"/>
            <a:ext cx="5458968" cy="247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49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E6F9-637B-C6C1-0F2B-865028A2D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628C-4F97-BDB0-B0EE-3CDACB138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SQL Server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E81-7536-DEE1-7E52-99577D8E5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646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Database Integration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Connected Jupyter Notebook to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SQL Server (Telecom_DB)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Created final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Customer_Satisfaction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table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Exported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106,856 customer records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Verification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SQL queries confirmed successful data storage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Retrieved sample records and summary statistics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Satisfaction-cluster distribution successfully verified</a:t>
            </a:r>
          </a:p>
          <a:p>
            <a:pPr marL="0" lvl="0" indent="0"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accent1">
                    <a:lumMod val="50000"/>
                  </a:schemeClr>
                </a:solidFill>
              </a:rPr>
              <a:t>Analysis results successfully integrated into SQL Server for future querying and reporting.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C8E05-15C9-306A-74B3-F337A7D6DBFF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12CF85-C0DD-F7D5-BEB6-276F18530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240" y="2112264"/>
            <a:ext cx="6644492" cy="398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929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A6ED4-7983-4701-9A79-C337F444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97B2-06D1-5269-819C-3B9EF401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770A-D343-F82B-027D-48F1A61B7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646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Overall Findings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Network performance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— RTT, throughput and TCP retransmission strongly affect user experience. 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Application usage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— Gaming, Other, and YouTube are the top three applications by total traffic.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Customer segmentation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— K-Means identified distinct engagement and experience groups. 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Satisfaction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— Combined engagement and experience scores identify customers needing improvement. </a:t>
            </a:r>
          </a:p>
          <a:p>
            <a:pPr lvl="0">
              <a:lnSpc>
                <a:spcPct val="150000"/>
              </a:lnSpc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Data integration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— Final results were successfully stored and verified in SQL Server.</a:t>
            </a:r>
          </a:p>
          <a:p>
            <a:pPr lvl="0">
              <a:lnSpc>
                <a:spcPct val="150000"/>
              </a:lnSpc>
            </a:pPr>
            <a:endParaRPr lang="en-IN" sz="1600" dirty="0"/>
          </a:p>
          <a:p>
            <a:pPr marL="0" lvl="0" indent="0">
              <a:lnSpc>
                <a:spcPct val="150000"/>
              </a:lnSpc>
              <a:buNone/>
            </a:pP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</a:rPr>
              <a:t>Business Takeaway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Use customer segments and network-performance insights to improve service quality and retention.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E592FB-43B6-E028-48C8-A6D77153969F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252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4F7C-1E8E-1DAF-43AD-C97E3D37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A32B-44B3-8595-DA31-8CE73D03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Business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8FB29-6EC8-7720-95E3-D34C62F3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079481" cy="45648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Improve customer satisfaction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Identify customers experiencing poor network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Optimize network infrastructure and capacity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Support data-driven investment decisions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Improve customer retention through targeted strategies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Maintain centralized reporting through SQL Server</a:t>
            </a: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F8B34-D0C7-E2BB-BCB0-A2CDCFA563E4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762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B023-710C-7A6F-C163-599865D0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763D-8EF8-C209-3BD8-92D1A1B2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9BB71-D609-B076-58DF-6B78192EE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5067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Network Improvements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Improve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network throughput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in low-performance areas.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Reduce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TCP retransmissions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and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RTT (latency)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Monitor high-traffic applications for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capacity planning</a:t>
            </a:r>
            <a:r>
              <a:rPr lang="en-IN" sz="1600" dirty="0"/>
              <a:t>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Customer Strategy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Prioritize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low-satisfaction customers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for service improvement.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Continuously update satisfaction scores using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new network data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marL="0" lvl="0" indent="0">
              <a:lnSpc>
                <a:spcPct val="150000"/>
              </a:lnSpc>
              <a:buNone/>
            </a:pP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Overall Recommendation:</a:t>
            </a:r>
            <a:r>
              <a:rPr lang="en-IN" sz="18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Focus on improving network quality for low-performing users while retaining high-value customers through personalized services.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4CEF3-C473-DA50-9170-4A4E4B8CBB2F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0DDD3-7296-F803-4853-7429694C99EE}"/>
              </a:ext>
            </a:extLst>
          </p:cNvPr>
          <p:cNvSpPr txBox="1"/>
          <p:nvPr/>
        </p:nvSpPr>
        <p:spPr>
          <a:xfrm>
            <a:off x="6473952" y="1709928"/>
            <a:ext cx="558698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Data &amp; Reporting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Store customer satisfaction metrics in SQL Server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Use SQL queries for centralized reporting and verification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Maintain the database as a foundation for future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434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A56B-59A4-625C-8E41-801327C7C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022A-30FA-8837-5E75-DC58617BD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Investment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F532A-2055-9D86-396A-4B587D1C7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506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Main recommendation : BUY WITH CONDITIONS</a:t>
            </a:r>
          </a:p>
          <a:p>
            <a:pPr marL="0" indent="0">
              <a:buNone/>
            </a:pPr>
            <a:r>
              <a:rPr lang="en-IN" sz="1800" b="1" dirty="0"/>
              <a:t>Supporting Evidence</a:t>
            </a:r>
            <a:endParaRPr lang="en-US" sz="1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Strong customer activity across major applications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Gaming, Other, and YouTube are the top three traffic-generating applications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K-Means identified distinct engagement, experience, and satisfaction segments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Lower-satisfaction customers provide opportunities for service improvement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RTT, throughput, and TCP retransmission reveal network optimization opportunities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Final customer-level analysis was successfully integrated into SQL Server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</a:rPr>
              <a:t>Decision Rationale</a:t>
            </a:r>
            <a:endParaRPr lang="en-US" sz="18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TellCo should be considered for acquisition with conditions.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The investment should be supported by a clear plan to: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Improve network quality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Address lower-satisfaction customer segments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Optimize resources around high-traffic usage patterns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• Improve customer retention and network efficiency</a:t>
            </a: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9679FC-B9FB-7DFC-14AC-E04A2BBCF2C5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613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36BA-9C4F-537A-9CF0-65FA698B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5BD4-43DD-731B-E30D-DC68FB7E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682B4-FC08-A1DB-57EF-487D5DF5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506730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Missing values &amp; data preprocessing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Large-scale telecom dataset handling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Selecting K-Means clustering parameters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Feature normalization before clustering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Python → SQL Server integration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SQL verification of exported results</a:t>
            </a:r>
          </a:p>
          <a:p>
            <a:pPr marL="342900" lvl="0" indent="-342900">
              <a:buFont typeface="+mj-lt"/>
              <a:buAutoNum type="arabicPeriod"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How They Were Addressed?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Cleaning  → </a:t>
            </a: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Missing-value analysis &amp; appropriate imputation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Clustering  → </a:t>
            </a: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Standardization + K-Means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Database  → </a:t>
            </a: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SQL Server connection and record verification</a:t>
            </a:r>
          </a:p>
          <a:p>
            <a:pPr marL="342900" lvl="0" indent="-342900">
              <a:buFont typeface="+mj-lt"/>
              <a:buAutoNum type="arabicPeriod"/>
            </a:pPr>
            <a:endParaRPr lang="en-IN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236DF-9CD8-921C-55E1-E3CF7908BA73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85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AED4D-007D-9992-07A8-6DB9D628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1149-AA39-ACD1-623A-159147B3B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Limitations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F252C-35E8-0AD2-9B1D-7F08ADCF7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506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Limitations</a:t>
            </a:r>
          </a:p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Analysis is based on one month of aggregated </a:t>
            </a:r>
            <a:r>
              <a:rPr lang="en-IN" sz="1600" b="1" dirty="0" err="1">
                <a:solidFill>
                  <a:schemeClr val="accent1">
                    <a:lumMod val="50000"/>
                  </a:schemeClr>
                </a:solidFill>
              </a:rPr>
              <a:t>xDR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 data </a:t>
            </a:r>
          </a:p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Several network features contained substantial missing values </a:t>
            </a:r>
          </a:p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 Network variables showed high variability and extreme observations </a:t>
            </a:r>
          </a:p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 Satisfaction is a derived analytical score, not direct customer feedback </a:t>
            </a:r>
          </a:p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 Clustering results depend on selected features and methodology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Future Scope</a:t>
            </a:r>
          </a:p>
          <a:p>
            <a:pPr lvl="0"/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Real-time customer satisfaction monitoring</a:t>
            </a:r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  <a:p>
            <a:pPr lvl="0"/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Interactive Power BI dashboard</a:t>
            </a:r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  <a:p>
            <a:pPr lvl="0"/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Advanced ML models for satisfaction prediction</a:t>
            </a:r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  <a:p>
            <a:pPr lvl="0"/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Live telecom network data integration</a:t>
            </a:r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  <a:p>
            <a:pPr lvl="0"/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Automated customer alerts</a:t>
            </a:r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  <a:p>
            <a:pPr lvl="0"/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Larger datasets &amp; additional network indicators</a:t>
            </a:r>
            <a:endParaRPr lang="en-IN" sz="16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lvl="0">
              <a:lnSpc>
                <a:spcPct val="150000"/>
              </a:lnSpc>
            </a:pPr>
            <a:endParaRPr lang="en-IN" sz="16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6B6F26-B7A4-51B5-1675-5542F12A34C9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537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11534-CE59-64C2-94B0-94C173D9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59FF-4839-BC08-3DAE-59AAD57F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4657-84CF-AA58-AEB6-770469CC8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87262"/>
            <a:ext cx="11887201" cy="55067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Successfully </a:t>
            </a:r>
            <a:r>
              <a:rPr lang="en-IN" sz="1600" dirty="0" err="1">
                <a:solidFill>
                  <a:schemeClr val="accent1">
                    <a:lumMod val="50000"/>
                  </a:schemeClr>
                </a:solidFill>
              </a:rPr>
              <a:t>analyzed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 telecom customer behaviour, engagement, experience, satisfaction, and duration-based usage patterns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K-Means identified distinct engagement, experience, and satisfaction segments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Duration decile analysis identified high-duration, high-traffic customer groups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Satisfaction was derived from normalized engagement and experience scores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Network-performance opportunities were identified for improving customer experience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• Final satisfaction results were successfully exported and verified in SQL Server</a:t>
            </a:r>
            <a:endParaRPr lang="en-IN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Final Takeaway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Data-driven customer segmentation and network-performance analysis can help TellCo improve service quality, customer satisfaction, retention, and network resource planning.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References</a:t>
            </a:r>
          </a:p>
          <a:p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Pandas 		</a:t>
            </a:r>
          </a:p>
          <a:p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NumPy </a:t>
            </a:r>
          </a:p>
          <a:p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Scikit-learn </a:t>
            </a:r>
          </a:p>
          <a:p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Matplotlib</a:t>
            </a:r>
          </a:p>
          <a:p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Seaborn </a:t>
            </a:r>
          </a:p>
          <a:p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N" sz="16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SQLAlchemy</a:t>
            </a:r>
            <a:r>
              <a:rPr lang="en-I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 • Microsoft SQL Server        • </a:t>
            </a:r>
            <a:r>
              <a:rPr lang="en-IN" sz="16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PyODBC</a:t>
            </a:r>
            <a:endParaRPr lang="en-IN" sz="16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14DD99-7B0B-5C9C-306A-F02EDF7CBA81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000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940F6-A078-E393-401C-FE11F4D6E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645E-9E73-18B4-BB43-A6FD1151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" y="661256"/>
            <a:ext cx="11860567" cy="714783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solidFill>
                  <a:schemeClr val="accent1">
                    <a:lumMod val="50000"/>
                  </a:schemeClr>
                </a:solidFill>
              </a:rPr>
              <a:t>Project Achievements &amp;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F24A6-1BA6-7AC5-85D4-07E842D24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06" y="1481328"/>
            <a:ext cx="11618828" cy="5193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Project Successfully Completed</a:t>
            </a:r>
          </a:p>
          <a:p>
            <a:pPr marL="0" indent="0">
              <a:buNone/>
            </a:pPr>
            <a:endParaRPr lang="en-US" sz="16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Data cleaning and preprocessing completed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Exploratory Data Analysis completed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User overview and engagement analysis completed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Duration-based segmentation completed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User experience analysis completed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K-Means clustering applied to customer segments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Customer satisfaction scoring completed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Business recommendations developed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SQL Server integration completed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✔ Customer satisfaction results verified using SQL queries</a:t>
            </a:r>
          </a:p>
          <a:p>
            <a:pPr marL="0" indent="0">
              <a:buNone/>
            </a:pPr>
            <a:endParaRPr lang="en-US" sz="16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95994E-842C-A424-491F-898C9F6AC64C}"/>
              </a:ext>
            </a:extLst>
          </p:cNvPr>
          <p:cNvSpPr/>
          <p:nvPr/>
        </p:nvSpPr>
        <p:spPr>
          <a:xfrm>
            <a:off x="0" y="260648"/>
            <a:ext cx="12192000" cy="4006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C6AEE-F12D-A823-9E4E-7F6A91C85193}"/>
              </a:ext>
            </a:extLst>
          </p:cNvPr>
          <p:cNvSpPr txBox="1"/>
          <p:nvPr/>
        </p:nvSpPr>
        <p:spPr>
          <a:xfrm>
            <a:off x="6931152" y="1481328"/>
            <a:ext cx="495604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Final Outcome</a:t>
            </a:r>
          </a:p>
          <a:p>
            <a:endParaRPr lang="en-US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project transformed raw telecom network data into actionable customer, network, and satisfaction insights that can support business decision-making, customer retention, and network optimization.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10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1844</Words>
  <Application>Microsoft Office PowerPoint</Application>
  <PresentationFormat>Widescreen</PresentationFormat>
  <Paragraphs>299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Office Theme</vt:lpstr>
      <vt:lpstr>Telecom Customer Analytics </vt:lpstr>
      <vt:lpstr>Project Overview</vt:lpstr>
      <vt:lpstr>Business Understanding &amp; Problem Statement</vt:lpstr>
      <vt:lpstr>Dataset Overview</vt:lpstr>
      <vt:lpstr>Data Preprocessing &amp; EDA</vt:lpstr>
      <vt:lpstr>User Overview Analysis</vt:lpstr>
      <vt:lpstr>User Engagement Analysis</vt:lpstr>
      <vt:lpstr>Duration Decile Analysis</vt:lpstr>
      <vt:lpstr>User Experience Analysis</vt:lpstr>
      <vt:lpstr>Customer Satisfaction Methodology</vt:lpstr>
      <vt:lpstr>User Satisfaction Analysis</vt:lpstr>
      <vt:lpstr>SQL Server Integration</vt:lpstr>
      <vt:lpstr>Key Insights</vt:lpstr>
      <vt:lpstr>Business Value</vt:lpstr>
      <vt:lpstr>Recommendations</vt:lpstr>
      <vt:lpstr>Investment Decision</vt:lpstr>
      <vt:lpstr>Challenges Faced</vt:lpstr>
      <vt:lpstr>Limitations &amp; Future Scope</vt:lpstr>
      <vt:lpstr>Conclusion &amp; References</vt:lpstr>
      <vt:lpstr>Project Achievements &amp; Completion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Bhawna Chouhan</dc:creator>
  <cp:lastModifiedBy>Bhawna Chouhan</cp:lastModifiedBy>
  <cp:revision>114</cp:revision>
  <dcterms:created xsi:type="dcterms:W3CDTF">2026-08-07T06:43:40Z</dcterms:created>
  <dcterms:modified xsi:type="dcterms:W3CDTF">2026-08-09T16:59:12Z</dcterms:modified>
</cp:coreProperties>
</file>